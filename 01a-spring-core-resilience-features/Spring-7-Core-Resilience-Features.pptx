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45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10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200"/>
                </a:solidFill>
                <a:latin typeface="Helvetica Neue"/>
              </a:rPr>
              <a:t>SPRING FRAMEWORK 7  ·  SPRING BOOT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Helvetica Neue"/>
              </a:rPr>
              <a:t>Core Resilience Features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2484" b="0">
                <a:solidFill>
                  <a:srgbClr val="FF6200"/>
                </a:solidFill>
                <a:latin typeface="Menlo"/>
              </a:rPr>
              <a:t>@Retryable</a:t>
            </a:r>
            <a:r>
              <a:rPr sz="2700" b="0">
                <a:solidFill>
                  <a:srgbClr val="FF6200"/>
                </a:solidFill>
                <a:latin typeface="Helvetica Neue"/>
              </a:rPr>
              <a:t>  ·  </a:t>
            </a:r>
            <a:r>
              <a:rPr sz="2484" b="0">
                <a:solidFill>
                  <a:srgbClr val="FF6200"/>
                </a:solidFill>
                <a:latin typeface="Menlo"/>
              </a:rPr>
              <a:t>RetryTemplate</a:t>
            </a:r>
            <a:r>
              <a:rPr sz="2700" b="0">
                <a:solidFill>
                  <a:srgbClr val="FF6200"/>
                </a:solidFill>
                <a:latin typeface="Helvetica Neue"/>
              </a:rPr>
              <a:t>  ·  </a:t>
            </a:r>
            <a:r>
              <a:rPr sz="2484" b="0">
                <a:solidFill>
                  <a:srgbClr val="FF6200"/>
                </a:solidFill>
                <a:latin typeface="Menlo"/>
              </a:rPr>
              <a:t>@ConcurrencyLimit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434840"/>
            <a:ext cx="137160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B8C1C9"/>
                </a:solidFill>
                <a:latin typeface="Helvetica Neue"/>
              </a:rPr>
              <a:t>Fault tolerance without third-party libraries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Live demo: </a:t>
            </a:r>
            <a:r>
              <a:rPr sz="1380" b="0">
                <a:solidFill>
                  <a:srgbClr val="5A636A"/>
                </a:solidFill>
                <a:latin typeface="Menlo"/>
              </a:rPr>
              <a:t>01a-spring-core-resilience-features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E2B1-9AED-F883-70A2-F45C6E25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20999-BC95-2CC9-50CC-B3976922759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9F8B5-3500-D5D9-19E0-81F8446762FA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49D14-DB6F-9C93-9A16-51475F8DF859}"/>
              </a:ext>
            </a:extLst>
          </p:cNvPr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WHAT WE'LL COVER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C8497-539A-201D-575B-B34C57D6A0C7}"/>
              </a:ext>
            </a:extLst>
          </p:cNvPr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Agenda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71233-B0AE-1149-B3B5-8602821DDBF8}"/>
              </a:ext>
            </a:extLst>
          </p:cNvPr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B022F-846D-FA76-3921-185A42A97262}"/>
              </a:ext>
            </a:extLst>
          </p:cNvPr>
          <p:cNvSpPr txBox="1"/>
          <p:nvPr/>
        </p:nvSpPr>
        <p:spPr>
          <a:xfrm>
            <a:off x="685800" y="178308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The problem — transient failures &amp; resource exhaustion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What changed in Spring Framework 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Enabling the infrastructure — </a:t>
            </a:r>
            <a:r>
              <a:rPr sz="1840" b="0" dirty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</a:t>
            </a:r>
            <a:r>
              <a:rPr sz="1840" b="0" dirty="0" err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EnableResilientMethods</a:t>
            </a:r>
            <a:endParaRPr sz="1840" b="0" dirty="0">
              <a:solidFill>
                <a:srgbClr val="C24A00"/>
              </a:solidFill>
              <a:highlight>
                <a:srgbClr val="F1F2F4"/>
              </a:highlight>
              <a:latin typeface="Menl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Pattern 1 — declarative retries with </a:t>
            </a:r>
            <a:r>
              <a:rPr sz="1840" b="0" dirty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</a:t>
            </a:r>
            <a:r>
              <a:rPr sz="1840" b="0" dirty="0" err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Retryable</a:t>
            </a:r>
            <a:endParaRPr sz="1840" b="0" dirty="0">
              <a:solidFill>
                <a:srgbClr val="C24A00"/>
              </a:solidFill>
              <a:highlight>
                <a:srgbClr val="F1F2F4"/>
              </a:highlight>
              <a:latin typeface="Menl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Pattern 2 — programmatic retries with </a:t>
            </a:r>
            <a:r>
              <a:rPr sz="1840" b="0" dirty="0" err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RetryTemplate</a:t>
            </a:r>
            <a:endParaRPr sz="1840" b="0" dirty="0">
              <a:solidFill>
                <a:srgbClr val="C24A00"/>
              </a:solidFill>
              <a:highlight>
                <a:srgbClr val="F1F2F4"/>
              </a:highlight>
              <a:latin typeface="Menl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Tuning &amp; observing — </a:t>
            </a:r>
            <a:r>
              <a:rPr sz="1840" b="0" dirty="0" err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RetryPolicy</a:t>
            </a:r>
            <a:r>
              <a:rPr sz="2000" b="0" dirty="0">
                <a:solidFill>
                  <a:srgbClr val="2D3338"/>
                </a:solidFill>
                <a:latin typeface="Helvetica Neue"/>
              </a:rPr>
              <a:t>, </a:t>
            </a:r>
            <a:r>
              <a:rPr sz="1840" b="0" dirty="0" err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RetryListener</a:t>
            </a:r>
            <a:r>
              <a:rPr sz="2000" b="0" dirty="0">
                <a:solidFill>
                  <a:srgbClr val="2D3338"/>
                </a:solidFill>
                <a:latin typeface="Helvetica Neue"/>
              </a:rPr>
              <a:t>, </a:t>
            </a:r>
            <a:r>
              <a:rPr sz="1840" b="0" dirty="0" err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MethodRetryEvent</a:t>
            </a:r>
            <a:endParaRPr sz="1840" b="0" dirty="0">
              <a:solidFill>
                <a:srgbClr val="C24A00"/>
              </a:solidFill>
              <a:highlight>
                <a:srgbClr val="F1F2F4"/>
              </a:highlight>
              <a:latin typeface="Menl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Pattern 3 — bulkheads with </a:t>
            </a:r>
            <a:r>
              <a:rPr sz="1840" b="0" dirty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</a:t>
            </a:r>
            <a:r>
              <a:rPr sz="1840" b="0" dirty="0" err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ConcurrencyLimit</a:t>
            </a:r>
            <a:endParaRPr sz="1840" b="0" dirty="0">
              <a:solidFill>
                <a:srgbClr val="C24A00"/>
              </a:solidFill>
              <a:highlight>
                <a:srgbClr val="F1F2F4"/>
              </a:highlight>
              <a:latin typeface="Menl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dirty="0">
                <a:solidFill>
                  <a:srgbClr val="2D3338"/>
                </a:solidFill>
                <a:latin typeface="Helvetica Neue"/>
              </a:rPr>
              <a:t>▸  Live demo, gotchas and takeaways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DAA92-00F0-DF2F-7E3D-7B6084C32518}"/>
              </a:ext>
            </a:extLst>
          </p:cNvPr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173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WHY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Distributed systems fail — constantly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30780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dirty="0">
                <a:solidFill>
                  <a:srgbClr val="2D3338"/>
                </a:solidFill>
                <a:latin typeface="Helvetica Neue"/>
              </a:rPr>
              <a:t>▸  Transient failures are the norm, not the exception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GB" sz="1600" dirty="0">
                <a:solidFill>
                  <a:srgbClr val="5A636A"/>
                </a:solidFill>
                <a:latin typeface="Helvetica Neue"/>
              </a:rPr>
              <a:t>      –  “The network is reliable” –  a core fallacy of distributed computing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 b="0" dirty="0">
                <a:solidFill>
                  <a:srgbClr val="5A636A"/>
                </a:solidFill>
                <a:latin typeface="Helvetica Neue"/>
              </a:rPr>
              <a:t>      –  Network blips, DNS hiccups, TLS handshake timeouts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dirty="0">
                <a:solidFill>
                  <a:srgbClr val="5A636A"/>
                </a:solidFill>
                <a:latin typeface="Helvetica Neue"/>
              </a:rPr>
              <a:t>      –  Downstream 502/503/504 during rolling deployments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dirty="0">
                <a:solidFill>
                  <a:srgbClr val="5A636A"/>
                </a:solidFill>
                <a:latin typeface="Helvetica Neue"/>
              </a:rPr>
              <a:t>      –  Database failover, connection pool churn, lock </a:t>
            </a:r>
            <a:r>
              <a:rPr sz="1600" b="0" dirty="0" err="1">
                <a:solidFill>
                  <a:srgbClr val="5A636A"/>
                </a:solidFill>
                <a:latin typeface="Helvetica Neue"/>
              </a:rPr>
              <a:t>contentio</a:t>
            </a:r>
            <a:r>
              <a:rPr lang="en-GB" sz="1600" b="0" dirty="0">
                <a:solidFill>
                  <a:srgbClr val="5A636A"/>
                </a:solidFill>
                <a:latin typeface="Helvetica Neue"/>
              </a:rPr>
              <a:t>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dirty="0">
                <a:solidFill>
                  <a:srgbClr val="2D3338"/>
                </a:solidFill>
                <a:latin typeface="Helvetica Neue"/>
              </a:rPr>
              <a:t>▸  Overload failures are the other half of the story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dirty="0">
                <a:solidFill>
                  <a:srgbClr val="5A636A"/>
                </a:solidFill>
                <a:latin typeface="Helvetica Neue"/>
              </a:rPr>
              <a:t>      –  A fast caller can trivially overwhelm a slow dependency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dirty="0">
                <a:solidFill>
                  <a:srgbClr val="5A636A"/>
                </a:solidFill>
                <a:latin typeface="Helvetica Neue"/>
              </a:rPr>
              <a:t>      –  Unbounded concurrency turns one slow service into a cascading outage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10881360" cy="734694"/>
          </a:xfrm>
          <a:prstGeom prst="rect">
            <a:avLst/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440680"/>
            <a:ext cx="44450" cy="734694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556869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7A2A1E"/>
                </a:solidFill>
                <a:latin typeface="Helvetica Neue"/>
              </a:rPr>
              <a:t>Two distinct problems → two distinct patterns: RETRY handles transient faults, BULKHEAD handles overload. Do not confuse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THE STATUS QUO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Life before Spring Framework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5212080" cy="457200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Hand-rolled loops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5212080" cy="32004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</a:t>
            </a:r>
            <a:r>
              <a:rPr sz="133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for</a:t>
            </a:r>
            <a:r>
              <a:rPr sz="1450" b="0">
                <a:solidFill>
                  <a:srgbClr val="2D3338"/>
                </a:solidFill>
                <a:latin typeface="Helvetica Neue"/>
              </a:rPr>
              <a:t> loop + </a:t>
            </a:r>
            <a:r>
              <a:rPr sz="133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try/catch</a:t>
            </a:r>
            <a:r>
              <a:rPr sz="1450" b="0">
                <a:solidFill>
                  <a:srgbClr val="2D3338"/>
                </a:solidFill>
                <a:latin typeface="Helvetica Neue"/>
              </a:rPr>
              <a:t> + </a:t>
            </a:r>
            <a:r>
              <a:rPr sz="133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Thread.sleep()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Backoff &amp; jitter reinvented per team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Untestable, uninstrumented, copy-pasted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Business logic buried in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212080" cy="4572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020824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Third-party libraries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77440"/>
            <a:ext cx="5212080" cy="32004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542032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</a:t>
            </a:r>
            <a:r>
              <a:rPr sz="133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spring-retry</a:t>
            </a:r>
            <a:r>
              <a:rPr sz="1450" b="0">
                <a:solidFill>
                  <a:srgbClr val="2D3338"/>
                </a:solidFill>
                <a:latin typeface="Helvetica Neue"/>
              </a:rPr>
              <a:t> — separate artifact &amp; release train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Resilience4j — powerful, but a full extra stack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Extra dependency, config model and learning curve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Overkill when all you need is 'retry 3 times'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623560"/>
            <a:ext cx="10881360" cy="734694"/>
          </a:xfrm>
          <a:prstGeom prst="rect">
            <a:avLst/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5623560"/>
            <a:ext cx="44450" cy="734694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575157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7A2A1E"/>
                </a:solidFill>
                <a:latin typeface="Helvetica Neue"/>
              </a:rPr>
              <a:t>Neither option is wrong — but retry and bulkhead are now considered core concerns, just like </a:t>
            </a:r>
            <a:r>
              <a:rPr sz="1334" b="0">
                <a:solidFill>
                  <a:srgbClr val="C24A00"/>
                </a:solidFill>
                <a:latin typeface="Menlo"/>
              </a:rPr>
              <a:t>@Async</a:t>
            </a:r>
            <a:r>
              <a:rPr sz="1450" b="0">
                <a:solidFill>
                  <a:srgbClr val="7A2A1E"/>
                </a:solidFill>
                <a:latin typeface="Helvetica Neue"/>
              </a:rPr>
              <a:t>, </a:t>
            </a:r>
            <a:r>
              <a:rPr sz="1334" b="0">
                <a:solidFill>
                  <a:srgbClr val="C24A00"/>
                </a:solidFill>
                <a:latin typeface="Menlo"/>
              </a:rPr>
              <a:t>@Scheduled</a:t>
            </a:r>
            <a:r>
              <a:rPr sz="1450" b="0">
                <a:solidFill>
                  <a:srgbClr val="7A2A1E"/>
                </a:solidFill>
                <a:latin typeface="Helvetica Neue"/>
              </a:rPr>
              <a:t> and </a:t>
            </a:r>
            <a:r>
              <a:rPr sz="1334" b="0">
                <a:solidFill>
                  <a:srgbClr val="C24A00"/>
                </a:solidFill>
                <a:latin typeface="Menlo"/>
              </a:rPr>
              <a:t>@Cacheable</a:t>
            </a:r>
            <a:r>
              <a:rPr sz="1450" b="0">
                <a:solidFill>
                  <a:srgbClr val="7A2A1E"/>
                </a:solidFill>
                <a:latin typeface="Helvetica Neue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SPRING FRAMEWORK 7.0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Resilience moves into the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500"/>
              </a:spcAft>
            </a:pP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org.springframework.core.retry</a:t>
            </a:r>
            <a:r>
              <a:rPr sz="1700" b="1">
                <a:solidFill>
                  <a:srgbClr val="C24A00"/>
                </a:solidFill>
                <a:latin typeface="Helvetica Neue"/>
              </a:rPr>
              <a:t>   —   spring-core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RetryTemplate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,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RetryPolicy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,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RetryListener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,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RetryException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Programmatic, imperative retry API with no Spring context required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500"/>
              </a:spcAft>
            </a:pP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org.springframework.resilience</a:t>
            </a:r>
            <a:r>
              <a:rPr sz="1700" b="1">
                <a:solidFill>
                  <a:srgbClr val="C24A00"/>
                </a:solidFill>
                <a:latin typeface="Helvetica Neue"/>
              </a:rPr>
              <a:t>   —   spring-context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@Retryable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,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@ConcurrencyLimit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,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@EnableResilientMethods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AOP-based declarative layer built on top of the core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Inspired by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spring-retry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, redesigned as a minimal core feature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Works with imperative methods AND reactive return types (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Mono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 /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Flux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06440"/>
            <a:ext cx="10881360" cy="504507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806440"/>
            <a:ext cx="44450" cy="50450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5934456"/>
            <a:ext cx="10424160" cy="321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Demo stack: Spring Boot 4.1.1  ·  Spring Framework 7.0.9  ·  Java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ENABLING THE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Step 0 — flip the master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configuration/ResliencyConfiguration.java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39696"/>
            <a:ext cx="10881360" cy="1828033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67712"/>
            <a:ext cx="10405872" cy="16451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37A"/>
                </a:solidFill>
                <a:latin typeface="Menlo"/>
              </a:rPr>
              <a:t>@EnableResilientMethods  // without this, @Retryable and @ConcurrencyLimit are ignored!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37A"/>
                </a:solidFill>
                <a:latin typeface="Menlo"/>
              </a:rPr>
              <a:t>@Configuration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Menlo"/>
              </a:rPr>
              <a:t>public class ResliencyConfiguration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49E"/>
                </a:solidFill>
                <a:latin typeface="Menlo"/>
              </a:rPr>
              <a:t>    // ...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Registers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RetryAnnotationBeanPostProcessor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 and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ConcurrencyLimitBeanPostProcessor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Those post-processors create AOP proxies around your annotated beans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Same mental model as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@EnableAsync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 /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@EnableScheduling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 /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@EnableCaching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760720"/>
            <a:ext cx="10881360" cy="734694"/>
          </a:xfrm>
          <a:prstGeom prst="rect">
            <a:avLst/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760720"/>
            <a:ext cx="44450" cy="734694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588873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7A2A1E"/>
                </a:solidFill>
                <a:latin typeface="Helvetica Neue"/>
              </a:rPr>
              <a:t>Forget </a:t>
            </a:r>
            <a:r>
              <a:rPr sz="1334" b="0">
                <a:solidFill>
                  <a:srgbClr val="C24A00"/>
                </a:solidFill>
                <a:latin typeface="Menlo"/>
              </a:rPr>
              <a:t>@EnableResilientMethods</a:t>
            </a:r>
            <a:r>
              <a:rPr sz="1450" b="0">
                <a:solidFill>
                  <a:srgbClr val="7A2A1E"/>
                </a:solidFill>
                <a:latin typeface="Helvetica Neue"/>
              </a:rPr>
              <a:t> and everything silently does nothing — no error, no warning. The #1 gotcha.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0" y="2377440"/>
            <a:ext cx="1371600" cy="508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6200"/>
                </a:solidFill>
                <a:latin typeface="Helvetica Neue"/>
              </a:rPr>
              <a:t>Pattern 1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Helvetica Neue"/>
              </a:rPr>
              <a:t>Retry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2200" b="0">
                <a:solidFill>
                  <a:srgbClr val="B8C1C9"/>
                </a:solidFill>
                <a:latin typeface="Helvetica Neue"/>
              </a:rPr>
              <a:t>Recovering from transient faults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The demo's flaky collaborator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service/impl/RandomServiceImpl.java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02536"/>
            <a:ext cx="10881360" cy="3640442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30552"/>
            <a:ext cx="10405872" cy="3457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B37A"/>
                </a:solidFill>
                <a:latin typeface="Menlo"/>
              </a:rPr>
              <a:t>@Service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public class RandomServiceImpl implements RandomService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AtomicInteger counter = new AtomicInteger(0);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B949E"/>
                </a:solidFill>
                <a:latin typeface="Menlo"/>
              </a:rPr>
              <a:t>    // fails the first 3 calls, succeeds on the 4th, then repeats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B37A"/>
                </a:solidFill>
                <a:latin typeface="Menlo"/>
              </a:rPr>
              <a:t>    @Override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public Integer errorProneLogic()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if (counter.getAndIncrement() &lt; 3)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    throw new GenericRuntimeException("Simulated error", true);  // retryable = true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counter.set(0);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return 42;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76072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76072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588873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Deterministic failure pattern → every strategy that retries at least 3 times returns </a:t>
            </a:r>
            <a:r>
              <a:rPr sz="1334" b="0">
                <a:solidFill>
                  <a:srgbClr val="C24A00"/>
                </a:solidFill>
                <a:latin typeface="Menlo"/>
              </a:rPr>
              <a:t>42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. No retry → exception.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BEFORE: 15 LINES OF PLUMBING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The old school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features/ResilientRetryService.java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02536"/>
            <a:ext cx="10881360" cy="3721608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30552"/>
            <a:ext cx="1040587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public Integer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executeErrorProneLogicWithResilienceOldSchool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int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maxRetry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 = 5;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for (int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i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 = 1;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i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 &lt;=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maxRetry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;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i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++)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try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    return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randomService.errorProneLogic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();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} catch (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GenericRuntimeException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 e)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   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LOG.info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("Attempt {} failed: {}",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i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,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e.toString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());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    if (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i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 &gt;=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maxRetry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        throw e;                      // give up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    sleep(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Duration.ofMillis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(1000));   // fixed delay, no backoff, no jitter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    throw new </a:t>
            </a:r>
            <a:r>
              <a:rPr sz="1200" b="0" dirty="0" err="1">
                <a:solidFill>
                  <a:srgbClr val="E6EDF3"/>
                </a:solidFill>
                <a:latin typeface="Menlo"/>
              </a:rPr>
              <a:t>GenericRuntimeException</a:t>
            </a:r>
            <a:r>
              <a:rPr sz="1200" b="0" dirty="0">
                <a:solidFill>
                  <a:srgbClr val="E6EDF3"/>
                </a:solidFill>
                <a:latin typeface="Menlo"/>
              </a:rPr>
              <a:t>("Dead code. should not reach here", true);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852160"/>
            <a:ext cx="10881360" cy="734694"/>
          </a:xfrm>
          <a:prstGeom prst="rect">
            <a:avLst/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852160"/>
            <a:ext cx="44450" cy="734694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598017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7A2A1E"/>
                </a:solidFill>
                <a:latin typeface="Helvetica Neue"/>
              </a:rPr>
              <a:t>Fixed delay · no exponential backoff · no jitter · no timeout budget · unreachable dead code · zero observability.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AFTER: 3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The Spring 7 way — </a:t>
            </a:r>
            <a:r>
              <a:rPr sz="2944" b="1">
                <a:solidFill>
                  <a:srgbClr val="1B1F23"/>
                </a:solidFill>
                <a:latin typeface="Menlo"/>
              </a:rPr>
              <a:t>@Retryable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features/ResilientRetryService.java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39696"/>
            <a:ext cx="10881360" cy="1629664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67712"/>
            <a:ext cx="10405872" cy="144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B37A"/>
                </a:solidFill>
                <a:latin typeface="Menlo"/>
              </a:rPr>
              <a:t>@Retryable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6EDF3"/>
                </a:solidFill>
                <a:latin typeface="Menlo"/>
              </a:rPr>
              <a:t>public Integer executeErrorProneLogicWithResilienceAnnotation()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6EDF3"/>
                </a:solidFill>
                <a:latin typeface="Menlo"/>
              </a:rPr>
              <a:t>    return randomService.errorProneLogic();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The bare annotation picks up the application's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RetryPolicy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 bean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Defaults when nothing is configured: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maxRetries = 3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,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delay = 1000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,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multiplier = 1.0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Method must be invoked through the proxy — self-invocation is NOT intercepted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57784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57784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570585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Business logic is now one line. The retry contract is declarative, centrally tunable and independently testable.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TUNING INLINE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44" b="1">
                <a:solidFill>
                  <a:srgbClr val="1B1F23"/>
                </a:solidFill>
                <a:latin typeface="Menlo"/>
              </a:rPr>
              <a:t>@Retryable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— the full attribute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Inline 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93976"/>
            <a:ext cx="10881360" cy="3396984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21992"/>
            <a:ext cx="10405872" cy="3214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B37A"/>
                </a:solidFill>
                <a:latin typeface="Menlo"/>
              </a:rPr>
              <a:t>@Retryable(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includes  = { RemoteTimeoutException.class },  // or the 'value' alias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excludes  = { BadRequestException.class },     // never retry these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predicate = MyRetryPredicate.class,            // custom method+throwable logic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maxRetries = 4,                                // default 3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delay      = 500,                              // base delay in ms (default 1000)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multiplier = 2.0,                              // exponential backoff (default 1.0)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maxDelay   = 5_000,                            // cap on the computed delay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jitter     = 100,                              // random +/- spread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timeout    = 30_000                            // total budget across all attempts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public String fetchProductDetails() { ...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76072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76072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588873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Every numeric attribute has a </a:t>
            </a:r>
            <a:r>
              <a:rPr sz="1334" b="0">
                <a:solidFill>
                  <a:srgbClr val="C24A00"/>
                </a:solidFill>
                <a:latin typeface="Menlo"/>
              </a:rPr>
              <a:t>*String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twin (</a:t>
            </a:r>
            <a:r>
              <a:rPr sz="1334" b="0">
                <a:solidFill>
                  <a:srgbClr val="C24A00"/>
                </a:solidFill>
                <a:latin typeface="Menlo"/>
              </a:rPr>
              <a:t>delayString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, </a:t>
            </a:r>
            <a:r>
              <a:rPr sz="1334" b="0">
                <a:solidFill>
                  <a:srgbClr val="C24A00"/>
                </a:solidFill>
                <a:latin typeface="Menlo"/>
              </a:rPr>
              <a:t>maxRetriesString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, …) supporting </a:t>
            </a:r>
            <a:r>
              <a:rPr sz="1334" b="0">
                <a:solidFill>
                  <a:srgbClr val="C24A00"/>
                </a:solidFill>
                <a:latin typeface="Menlo"/>
              </a:rPr>
              <a:t>${property}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placeholders and ISO-8601 durations.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DEMO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Centralising the rules — the </a:t>
            </a:r>
            <a:r>
              <a:rPr sz="2944" b="1">
                <a:solidFill>
                  <a:srgbClr val="1B1F23"/>
                </a:solidFill>
                <a:latin typeface="Menlo"/>
              </a:rPr>
              <a:t>RetryPolicy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bean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configuration/ResliencyConfiguration.java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93976"/>
            <a:ext cx="10881360" cy="3396984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21992"/>
            <a:ext cx="10405872" cy="3214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B37A"/>
                </a:solidFill>
                <a:latin typeface="Menlo"/>
              </a:rPr>
              <a:t>@Bean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public RetryPolicy retryPolicy()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return RetryPolicy.builder()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.maxRetries(5)                        // up to 5 retries after the initial call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.delay(Duration.ofMillis(1200))       // base delay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.maxDelay(Duration.ofMillis(2000))    // ceiling for backoff + jitter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.jitter(Duration.ofMillis(100))       // avoid the thundering herd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.timeout(Duration.ofMillis(5000))     // total budget, delays included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.includes(GenericRuntimeException.class)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.predicate(e -&gt; e instanceof GenericRuntimeException gre &amp;&amp; gre.isRetryable())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.build();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80644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80644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593445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34" b="0">
                <a:solidFill>
                  <a:srgbClr val="C24A00"/>
                </a:solidFill>
                <a:latin typeface="Menlo"/>
              </a:rPr>
              <a:t>includes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/ </a:t>
            </a:r>
            <a:r>
              <a:rPr sz="1334" b="0">
                <a:solidFill>
                  <a:srgbClr val="C24A00"/>
                </a:solidFill>
                <a:latin typeface="Menlo"/>
              </a:rPr>
              <a:t>excludes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filter by TYPE; </a:t>
            </a:r>
            <a:r>
              <a:rPr sz="1334" b="0">
                <a:solidFill>
                  <a:srgbClr val="C24A00"/>
                </a:solidFill>
                <a:latin typeface="Menlo"/>
              </a:rPr>
              <a:t>predicate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adds semantic filtering — here, only exceptions explicitly flagged retryable.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WHY THE KNOBS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Backoff, jitter and the total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</a:pP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delay</a:t>
            </a:r>
            <a:r>
              <a:rPr sz="1700" b="1">
                <a:solidFill>
                  <a:srgbClr val="C24A00"/>
                </a:solidFill>
                <a:latin typeface="Helvetica Neue"/>
              </a:rPr>
              <a:t> + </a:t>
            </a: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multiplier</a:t>
            </a:r>
            <a:r>
              <a:rPr sz="1700" b="1">
                <a:solidFill>
                  <a:srgbClr val="C24A00"/>
                </a:solidFill>
                <a:latin typeface="Helvetica Neue"/>
              </a:rPr>
              <a:t> = exponential backoff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500ms → 1s → 2s → 4s … gives the dependency room to recover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maxDelay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caps it so you never wait minutes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</a:pP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jitter</a:t>
            </a:r>
            <a:r>
              <a:rPr sz="1700" b="1">
                <a:solidFill>
                  <a:srgbClr val="C24A00"/>
                </a:solidFill>
                <a:latin typeface="Helvetica Neue"/>
              </a:rPr>
              <a:t> = the thundering-herd cure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100 clients failing together would otherwise all retry at the same instant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Randomised spread flattens the retry spike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</a:pP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timeout</a:t>
            </a:r>
            <a:r>
              <a:rPr sz="1700" b="1">
                <a:solidFill>
                  <a:srgbClr val="C24A00"/>
                </a:solidFill>
                <a:latin typeface="Helvetica Neue"/>
              </a:rPr>
              <a:t> = the caller's patience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Total elapsed budget for initial call + all retries + all delays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Keep it below the upstream HTTP/gateway timeout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06440"/>
            <a:ext cx="10881360" cy="734694"/>
          </a:xfrm>
          <a:prstGeom prst="rect">
            <a:avLst/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806440"/>
            <a:ext cx="44450" cy="734694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593445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7A2A1E"/>
                </a:solidFill>
                <a:latin typeface="Helvetica Neue"/>
              </a:rPr>
              <a:t>Retries multiply load on an already struggling system. Backoff + jitter + timeout are what make retries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WHEN ANNOTATIONS DON'T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44" b="1">
                <a:solidFill>
                  <a:srgbClr val="1B1F23"/>
                </a:solidFill>
                <a:latin typeface="Menlo"/>
              </a:rPr>
              <a:t>RetryTemplate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— the programmatic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Configuration + ResilientRetryService.java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48256"/>
            <a:ext cx="10881360" cy="2955163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76272"/>
            <a:ext cx="10405872" cy="27722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@Bean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public RetryTemplate retryTemplate(RetryPolicy retryPolicy, RetryTemplateRetryListener listener)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RetryTemplate retryTemplate = new RetryTemplate(retryPolicy);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retryTemplate.setRetryListener(listener);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return retryTemplate;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Menlo"/>
              </a:rPr>
              <a:t>// ...then wrap any lambda, anywhere: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public Integer executeErrorProneLogicWithResilienceProgrammatic()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return retryTemplate.invoke(randomService::errorProneLogic);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D3338"/>
                </a:solidFill>
                <a:latin typeface="Helvetica Neue"/>
              </a:rPr>
              <a:t>▸  No proxy involved — works for self-invocation, private helpers and lambdas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D3338"/>
                </a:solidFill>
                <a:latin typeface="Helvetica Neue"/>
              </a:rPr>
              <a:t>▸  Choose the policy at runtime; wrap only part of a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897880"/>
            <a:ext cx="10881360" cy="504507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897880"/>
            <a:ext cx="44450" cy="50450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6025896"/>
            <a:ext cx="10424160" cy="321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Lives in </a:t>
            </a:r>
            <a:r>
              <a:rPr sz="1334" b="0">
                <a:solidFill>
                  <a:srgbClr val="C24A00"/>
                </a:solidFill>
                <a:latin typeface="Menlo"/>
              </a:rPr>
              <a:t>spring-core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— usable in plain Java, no </a:t>
            </a:r>
            <a:r>
              <a:rPr sz="1334" b="0">
                <a:solidFill>
                  <a:srgbClr val="C24A00"/>
                </a:solidFill>
                <a:latin typeface="Menlo"/>
              </a:rPr>
              <a:t>ApplicationContext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RETRYOPERATIONS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44" b="1">
                <a:solidFill>
                  <a:srgbClr val="1B1F23"/>
                </a:solidFill>
                <a:latin typeface="Menlo"/>
              </a:rPr>
              <a:t>execute()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vs </a:t>
            </a:r>
            <a:r>
              <a:rPr sz="2944" b="1">
                <a:solidFill>
                  <a:srgbClr val="1B1F23"/>
                </a:solidFill>
                <a:latin typeface="Menlo"/>
              </a:rPr>
              <a:t>invoke()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— two ways to call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org.springframework.core.retry.RetryOperations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02536"/>
            <a:ext cx="10881360" cy="2955163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30552"/>
            <a:ext cx="10405872" cy="27722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8B949E"/>
                </a:solidFill>
                <a:latin typeface="Menlo"/>
              </a:rPr>
              <a:t>// invoke(Supplier) - convenience: rethrows the LAST exception, history is lost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Integer value = </a:t>
            </a:r>
            <a:r>
              <a:rPr sz="1250" b="0" dirty="0" err="1">
                <a:solidFill>
                  <a:srgbClr val="E6EDF3"/>
                </a:solidFill>
                <a:latin typeface="Menlo"/>
              </a:rPr>
              <a:t>retryTemplate.invoke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(</a:t>
            </a:r>
            <a:r>
              <a:rPr sz="1250" b="0" dirty="0" err="1">
                <a:solidFill>
                  <a:srgbClr val="E6EDF3"/>
                </a:solidFill>
                <a:latin typeface="Menlo"/>
              </a:rPr>
              <a:t>randomService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::</a:t>
            </a:r>
            <a:r>
              <a:rPr sz="1250" b="0" dirty="0" err="1">
                <a:solidFill>
                  <a:srgbClr val="E6EDF3"/>
                </a:solidFill>
                <a:latin typeface="Menlo"/>
              </a:rPr>
              <a:t>errorProneLogic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8B949E"/>
                </a:solidFill>
                <a:latin typeface="Menlo"/>
              </a:rPr>
              <a:t>// execute(</a:t>
            </a:r>
            <a:r>
              <a:rPr sz="1250" b="0" dirty="0" err="1">
                <a:solidFill>
                  <a:srgbClr val="8B949E"/>
                </a:solidFill>
                <a:latin typeface="Menlo"/>
              </a:rPr>
              <a:t>Retryable</a:t>
            </a:r>
            <a:r>
              <a:rPr sz="1250" b="0" dirty="0">
                <a:solidFill>
                  <a:srgbClr val="8B949E"/>
                </a:solidFill>
                <a:latin typeface="Menlo"/>
              </a:rPr>
              <a:t>) - forensic: every failed attempt is preserved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try {</a:t>
            </a:r>
          </a:p>
          <a:p>
            <a:pPr>
              <a:lnSpc>
                <a:spcPct val="128000"/>
              </a:lnSpc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    Integer value = </a:t>
            </a:r>
            <a:r>
              <a:rPr sz="1250" b="0" dirty="0" err="1">
                <a:solidFill>
                  <a:srgbClr val="E6EDF3"/>
                </a:solidFill>
                <a:latin typeface="Menlo"/>
              </a:rPr>
              <a:t>retryTemplate.execute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(</a:t>
            </a:r>
            <a:r>
              <a:rPr lang="en-GB" sz="1250" dirty="0" err="1">
                <a:solidFill>
                  <a:srgbClr val="E6EDF3"/>
                </a:solidFill>
                <a:latin typeface="Menlo"/>
              </a:rPr>
              <a:t>randomService</a:t>
            </a:r>
            <a:r>
              <a:rPr lang="en-GB" sz="1250" dirty="0">
                <a:solidFill>
                  <a:srgbClr val="E6EDF3"/>
                </a:solidFill>
                <a:latin typeface="Menlo"/>
              </a:rPr>
              <a:t>::</a:t>
            </a:r>
            <a:r>
              <a:rPr lang="en-GB" sz="1250" dirty="0" err="1">
                <a:solidFill>
                  <a:srgbClr val="E6EDF3"/>
                </a:solidFill>
                <a:latin typeface="Menlo"/>
              </a:rPr>
              <a:t>errorProneLogic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catch (</a:t>
            </a:r>
            <a:r>
              <a:rPr sz="1250" b="0" dirty="0" err="1">
                <a:solidFill>
                  <a:srgbClr val="E6EDF3"/>
                </a:solidFill>
                <a:latin typeface="Menlo"/>
              </a:rPr>
              <a:t>RetryException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 ex) {        // checked - the compiler forces you to handle it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    </a:t>
            </a:r>
            <a:r>
              <a:rPr sz="1250" b="0" dirty="0" err="1">
                <a:solidFill>
                  <a:srgbClr val="E6EDF3"/>
                </a:solidFill>
                <a:latin typeface="Menlo"/>
              </a:rPr>
              <a:t>ex.getCause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();                 // the failure of the FINAL attempt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    </a:t>
            </a:r>
            <a:r>
              <a:rPr sz="1250" b="0" dirty="0" err="1">
                <a:solidFill>
                  <a:srgbClr val="E6EDF3"/>
                </a:solidFill>
                <a:latin typeface="Menlo"/>
              </a:rPr>
              <a:t>ex.getSuppressed</a:t>
            </a:r>
            <a:r>
              <a:rPr sz="1250" b="0" dirty="0">
                <a:solidFill>
                  <a:srgbClr val="E6EDF3"/>
                </a:solidFill>
                <a:latin typeface="Menlo"/>
              </a:rPr>
              <a:t>();            // every earlier attempt, in order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47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invoke()</a:t>
            </a:r>
            <a:r>
              <a:rPr sz="1600" b="0">
                <a:solidFill>
                  <a:srgbClr val="2D3338"/>
                </a:solidFill>
                <a:latin typeface="Helvetica Neue"/>
              </a:rPr>
              <a:t> wraps a </a:t>
            </a:r>
            <a:r>
              <a:rPr sz="147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Supplier</a:t>
            </a:r>
            <a:r>
              <a:rPr sz="1600" b="0">
                <a:solidFill>
                  <a:srgbClr val="2D3338"/>
                </a:solidFill>
                <a:latin typeface="Helvetica Neue"/>
              </a:rPr>
              <a:t> and unwraps </a:t>
            </a:r>
            <a:r>
              <a:rPr sz="147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RetryException</a:t>
            </a:r>
            <a:r>
              <a:rPr sz="1600" b="0">
                <a:solidFill>
                  <a:srgbClr val="2D3338"/>
                </a:solidFill>
                <a:latin typeface="Helvetica Neue"/>
              </a:rPr>
              <a:t> for you — the common case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47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execute()</a:t>
            </a:r>
            <a:r>
              <a:rPr sz="1600" b="0">
                <a:solidFill>
                  <a:srgbClr val="2D3338"/>
                </a:solidFill>
                <a:latin typeface="Helvetica Neue"/>
              </a:rPr>
              <a:t> takes a named </a:t>
            </a:r>
            <a:r>
              <a:rPr sz="147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Retryable</a:t>
            </a:r>
            <a:r>
              <a:rPr sz="1600" b="0">
                <a:solidFill>
                  <a:srgbClr val="2D3338"/>
                </a:solidFill>
                <a:latin typeface="Helvetica Neue"/>
              </a:rPr>
              <a:t> and hands you the full attempt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760720"/>
            <a:ext cx="10881360" cy="504507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760720"/>
            <a:ext cx="44450" cy="50450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5888736"/>
            <a:ext cx="10424160" cy="321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Use </a:t>
            </a:r>
            <a:r>
              <a:rPr sz="1334" b="0">
                <a:solidFill>
                  <a:srgbClr val="C24A00"/>
                </a:solidFill>
                <a:latin typeface="Menlo"/>
              </a:rPr>
              <a:t>execute()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when the post-mortem matters: every attempt is a suppressed exception.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CHOOSING BETWEEN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44" b="1">
                <a:solidFill>
                  <a:srgbClr val="1B1F23"/>
                </a:solidFill>
                <a:latin typeface="Menlo"/>
              </a:rPr>
              <a:t>@Retryable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vs. </a:t>
            </a:r>
            <a:r>
              <a:rPr sz="2944" b="1">
                <a:solidFill>
                  <a:srgbClr val="1B1F23"/>
                </a:solidFill>
                <a:latin typeface="Menlo"/>
              </a:rPr>
              <a:t>RetryTemplate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3200400" cy="475488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568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Helvetica Neue"/>
              </a:rP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828800"/>
            <a:ext cx="3840480" cy="475488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50792" y="195681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34" b="1">
                <a:solidFill>
                  <a:srgbClr val="FFB37A"/>
                </a:solidFill>
                <a:latin typeface="Menlo"/>
              </a:rPr>
              <a:t>@Retryable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80" y="1828800"/>
            <a:ext cx="3840480" cy="475488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2" y="195681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34" b="1">
                <a:solidFill>
                  <a:srgbClr val="FFB37A"/>
                </a:solidFill>
                <a:latin typeface="Menlo"/>
              </a:rPr>
              <a:t>RetryTemplate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04288"/>
            <a:ext cx="320040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423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3338"/>
                </a:solidFill>
                <a:latin typeface="Helvetica Neue"/>
              </a:rPr>
              <a:t>Style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304288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50792" y="24231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D3338"/>
                </a:solidFill>
                <a:latin typeface="Helvetica Neue"/>
              </a:rPr>
              <a:t>Declarative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304288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24231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D3338"/>
                </a:solidFill>
                <a:latin typeface="Helvetica Neue"/>
              </a:rPr>
              <a:t>Programmatic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779776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28986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3338"/>
                </a:solidFill>
                <a:latin typeface="Helvetica Neue"/>
              </a:rPr>
              <a:t>Mechanism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779776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50792" y="289864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D3338"/>
                </a:solidFill>
                <a:latin typeface="Helvetica Neue"/>
              </a:rPr>
              <a:t>AOP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80" y="2779776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91272" y="289864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D3338"/>
                </a:solidFill>
                <a:latin typeface="Helvetica Neue"/>
              </a:rPr>
              <a:t>Direct method 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55264"/>
            <a:ext cx="320040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33741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3338"/>
                </a:solidFill>
                <a:latin typeface="Helvetica Neue"/>
              </a:rPr>
              <a:t>Self-invocation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3255264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2" y="337413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03A2B"/>
                </a:solidFill>
                <a:latin typeface="Helvetica Neue"/>
              </a:rPr>
              <a:t>✘ not intercepted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80" y="3255264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91272" y="337413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E7D32"/>
                </a:solidFill>
                <a:latin typeface="Helvetica Neue"/>
              </a:rPr>
              <a:t>✔ always works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730752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" y="384962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3338"/>
                </a:solidFill>
                <a:latin typeface="Helvetica Neue"/>
              </a:rPr>
              <a:t>Granularity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3730752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50792" y="384962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D3338"/>
                </a:solidFill>
                <a:latin typeface="Helvetica Neue"/>
              </a:rPr>
              <a:t>Whole method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730752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91272" y="384962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D3338"/>
                </a:solidFill>
                <a:latin typeface="Helvetica Neue"/>
              </a:rPr>
              <a:t>Any code block / lambda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206240"/>
            <a:ext cx="320040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0392" y="43251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3338"/>
                </a:solidFill>
                <a:latin typeface="Helvetica Neue"/>
              </a:rPr>
              <a:t>Runtime policy switch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4206240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50792" y="43251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03A2B"/>
                </a:solidFill>
                <a:latin typeface="Helvetica Neue"/>
              </a:rPr>
              <a:t>✘ fixed at startup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6680" y="4206240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3251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E7D32"/>
                </a:solidFill>
                <a:latin typeface="Helvetica Neue"/>
              </a:rPr>
              <a:t>✔ fully dynamic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68172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0392" y="4800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3338"/>
                </a:solidFill>
                <a:latin typeface="Helvetica Neue"/>
              </a:rPr>
              <a:t>Outside Spring context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4681728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50792" y="48006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03A2B"/>
                </a:solidFill>
                <a:latin typeface="Helvetica Neue"/>
              </a:rPr>
              <a:t>✘ needs a bean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80" y="4681728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91272" y="48006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E7D32"/>
                </a:solidFill>
                <a:latin typeface="Helvetica Neue"/>
              </a:rPr>
              <a:t>✔ plain Java object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5157216"/>
            <a:ext cx="320040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" y="52760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D3338"/>
                </a:solidFill>
                <a:latin typeface="Helvetica Neue"/>
              </a:rPr>
              <a:t>Readability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6200" y="5157216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50792" y="52760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E7D32"/>
                </a:solidFill>
                <a:latin typeface="Helvetica Neue"/>
              </a:rPr>
              <a:t>✔ zero noise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80" y="5157216"/>
            <a:ext cx="3840480" cy="47548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91272" y="52760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D3338"/>
                </a:solidFill>
                <a:latin typeface="Helvetica Neue"/>
              </a:rPr>
              <a:t>Explicit wrapping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580644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5800" y="580644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05256" y="593445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Rule of thumb: </a:t>
            </a:r>
            <a:r>
              <a:rPr sz="1334" b="0">
                <a:solidFill>
                  <a:srgbClr val="C24A00"/>
                </a:solidFill>
                <a:latin typeface="Menlo"/>
              </a:rPr>
              <a:t>@Retryable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for service boundaries; </a:t>
            </a:r>
            <a:r>
              <a:rPr sz="1334" b="0">
                <a:solidFill>
                  <a:srgbClr val="C24A00"/>
                </a:solidFill>
                <a:latin typeface="Menlo"/>
              </a:rPr>
              <a:t>RetryTemplate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for fine-grained, conditional or non-bean code.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FOR RETRYTEMPLATE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Observing retries — </a:t>
            </a:r>
            <a:r>
              <a:rPr sz="2944" b="1">
                <a:solidFill>
                  <a:srgbClr val="1B1F23"/>
                </a:solidFill>
                <a:latin typeface="Menlo"/>
              </a:rPr>
              <a:t>RetryListener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features/listeners/RetryTemplateRetryListener.java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93976"/>
            <a:ext cx="10881360" cy="3180588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21992"/>
            <a:ext cx="10405872" cy="29977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@Component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public class RetryTemplateRetryListener implements RetryListener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    @Override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public void onRetryableExecution(RetryPolicy policy, Retryable&lt;?&gt; r, RetryState state) {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    @Override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public void onRetryFailure(RetryPolicy policy, Retryable&lt;?&gt; r, Throwable t) {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    @Override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public void onRetrySuccess(RetryPolicy policy, Retryable&lt;?&gt; r, @Nullable Object result) {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13248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D3338"/>
                </a:solidFill>
                <a:latin typeface="Helvetica Neue"/>
              </a:rPr>
              <a:t>▸  Natural hook for metrics: counters per outcome, histogram of attempt counts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56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CompositeRetryListener</a:t>
            </a:r>
            <a:r>
              <a:rPr sz="1700" b="0">
                <a:solidFill>
                  <a:srgbClr val="2D3338"/>
                </a:solidFill>
                <a:latin typeface="Helvetica Neue"/>
              </a:rPr>
              <a:t> composes several listeners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FOR @RETRYABLE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Observing retries — </a:t>
            </a:r>
            <a:r>
              <a:rPr sz="2944" b="1">
                <a:solidFill>
                  <a:srgbClr val="1B1F23"/>
                </a:solidFill>
                <a:latin typeface="Menlo"/>
              </a:rPr>
              <a:t>MethodRetryEvent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features/listeners/MethodRetryEventListener.java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48256"/>
            <a:ext cx="10881360" cy="3396984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76272"/>
            <a:ext cx="10405872" cy="3214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B37A"/>
                </a:solidFill>
                <a:latin typeface="Menlo"/>
              </a:rPr>
              <a:t>@Component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public class MethodRetryEventListener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B949E"/>
                </a:solidFill>
                <a:latin typeface="Menlo"/>
              </a:rPr>
              <a:t>    // published every time a @Retryable method retries after a retryable exception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B37A"/>
                </a:solidFill>
                <a:latin typeface="Menlo"/>
              </a:rPr>
              <a:t>    @EventListener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public void handleMethodRetryEvent(MethodRetryEvent event)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    LOG.info("MethodRetryEvent {}", event);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B949E"/>
                </a:solidFill>
                <a:latin typeface="Menlo"/>
              </a:rPr>
              <a:t>        // event.getSource()      -&gt; the MethodInvocation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B949E"/>
                </a:solidFill>
                <a:latin typeface="Menlo"/>
              </a:rPr>
              <a:t>        // event.getFailure()     -&gt; the Throwable that triggered the retry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B949E"/>
                </a:solidFill>
                <a:latin typeface="Menlo"/>
              </a:rPr>
              <a:t>        // event.isRetryAborted() -&gt; true when retries have been exhausted / aborted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76072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76072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588873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Standard Spring application event — decoupled, testable, and the right place to raise alerts when </a:t>
            </a:r>
            <a:r>
              <a:rPr sz="1334" b="0">
                <a:solidFill>
                  <a:srgbClr val="C24A00"/>
                </a:solidFill>
                <a:latin typeface="Menlo"/>
              </a:rPr>
              <a:t>isRetryAborted()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is true.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RETRYLISTENER,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When retrying stops — the terminal callbacks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The three terminal callbacks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56816"/>
            <a:ext cx="10881360" cy="3378948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084832"/>
            <a:ext cx="10405872" cy="31960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B37A"/>
                </a:solidFill>
                <a:latin typeface="Menlo"/>
              </a:rPr>
              <a:t>@Component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public class AlertingRetryListener implements RetryListener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B37A"/>
                </a:solidFill>
                <a:latin typeface="Menlo"/>
              </a:rPr>
              <a:t>    @Override   // policy said "no more attempts"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   public void onRetryPolicyExhaustion(RetryPolicy p, Retryable&lt;?&gt; r, Throwable t)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       alerts.page("retry-exhausted", r.getName(), t);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B37A"/>
                </a:solidFill>
                <a:latin typeface="Menlo"/>
              </a:rPr>
              <a:t>    @Override   // the total 'timeout' budget ran out mid-flight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   public void onRetryPolicyTimeout(RetryPolicy p, Retryable&lt;?&gt; r, Throwable t) {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B37A"/>
                </a:solidFill>
                <a:latin typeface="Menlo"/>
              </a:rPr>
              <a:t>    @Override   // the thread was interrupted while backing off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    public void onRetryPolicyInterruption(RetryPolicy p, Retryable&lt;?&gt; r, Throwable t) {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4068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▸  These fire exactly once, when the retry loop gives up — the right place to alert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▸  Exhaustion = attempts used up · Timeout = budget blown · Interruption = shutdown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33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@Retryable</a:t>
            </a:r>
            <a:r>
              <a:rPr sz="1450" b="0">
                <a:solidFill>
                  <a:srgbClr val="2D3338"/>
                </a:solidFill>
                <a:latin typeface="Helvetica Neue"/>
              </a:rPr>
              <a:t> users get the same signal via </a:t>
            </a:r>
            <a:r>
              <a:rPr sz="133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MethodRetryEvent.isRetryAborted()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0" y="2377440"/>
            <a:ext cx="1371600" cy="508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6200"/>
                </a:solidFill>
                <a:latin typeface="Helvetica Neue"/>
              </a:rPr>
              <a:t>Pattern 2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Helvetica Neue"/>
              </a:rPr>
              <a:t>Bulkhead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2024" b="0">
                <a:solidFill>
                  <a:srgbClr val="FFB37A"/>
                </a:solidFill>
                <a:latin typeface="Menlo"/>
              </a:rPr>
              <a:t>@ConcurrencyLimit</a:t>
            </a:r>
            <a:r>
              <a:rPr sz="2200" b="0">
                <a:solidFill>
                  <a:srgbClr val="B8C1C9"/>
                </a:solidFill>
                <a:latin typeface="Helvetica Neue"/>
              </a:rPr>
              <a:t> — protecting what you call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The resource that cannot take the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service/impl/LimitedExecutionServiceImpl.java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48256"/>
            <a:ext cx="10881360" cy="3406013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76272"/>
            <a:ext cx="10405872" cy="32231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@Service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public class LimitedExecutionServiceImpl implements LimitedExecutionService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private static final int MAX_CONCURRENT_EXECUTIONS = 10;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private final Semaphore semaphore = new Semaphore(MAX_CONCURRENT_EXECUTIONS, true);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    @Override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public Integer execute()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    if (!semaphore.tryAcquire())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        throw new LimitBreachedException("Maximum concurrent executions exceeded ...");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    try { sleep(1000); return counter.incrementAndGet();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    finally { semaphore.release();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440680"/>
            <a:ext cx="10881360" cy="734694"/>
          </a:xfrm>
          <a:prstGeom prst="rect">
            <a:avLst/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440680"/>
            <a:ext cx="44450" cy="734694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556869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7A2A1E"/>
                </a:solidFill>
                <a:latin typeface="Helvetica Neue"/>
              </a:rPr>
              <a:t>Stand-in for a real constrained resource: a connection pool, a rate-limited third-party API, a legacy mainframe. Caller #11 fails hard.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@CONCURRENCYLIMIT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One annotation, problem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features/ResilientLimitConcurrencyService.java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93976"/>
            <a:ext cx="10881360" cy="2567432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21992"/>
            <a:ext cx="10405872" cy="2384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6EDF3"/>
                </a:solidFill>
                <a:latin typeface="Menlo"/>
              </a:rPr>
              <a:t>public Integer executeWithNoLimit()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6EDF3"/>
                </a:solidFill>
                <a:latin typeface="Menlo"/>
              </a:rPr>
              <a:t>    return limitedExecutionService.execute();     // 11 threads -&gt; LimitBreached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6EDF3"/>
                </a:solidFill>
                <a:latin typeface="Menlo"/>
              </a:rPr>
              <a:t>}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B37A"/>
                </a:solidFill>
                <a:latin typeface="Menlo"/>
              </a:rPr>
              <a:t>@ConcurrencyLimit(limit = 10, policy = ThrottlePolicy.BLOCK)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6EDF3"/>
                </a:solidFill>
                <a:latin typeface="Menlo"/>
              </a:rPr>
              <a:t>public Integer executeWithLimit()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6EDF3"/>
                </a:solidFill>
                <a:latin typeface="Menlo"/>
              </a:rPr>
              <a:t>    return limitedExecutionService.execute();     // 100 threads -&gt; all succeed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At most 10 threads inside the method at any instant — the 11th waits its turn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D3338"/>
                </a:solidFill>
                <a:latin typeface="Helvetica Neue"/>
              </a:rPr>
              <a:t>▸  Backed by a fair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Semaphore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 in the AOP interceptor; </a:t>
            </a:r>
            <a:r>
              <a:rPr sz="1656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limit = 1</a:t>
            </a:r>
            <a:r>
              <a:rPr sz="1800" b="0">
                <a:solidFill>
                  <a:srgbClr val="2D3338"/>
                </a:solidFill>
                <a:latin typeface="Helvetica Neue"/>
              </a:rPr>
              <a:t> gives mutual exclusion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71500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71500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584301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In the demo test, 100 concurrent virtual threads all complete successfully — throughput is shaped, nothing is dropped.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THROTTLEPOLICY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44" b="1">
                <a:solidFill>
                  <a:srgbClr val="1B1F23"/>
                </a:solidFill>
                <a:latin typeface="Menlo"/>
              </a:rPr>
              <a:t>BLOCK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or </a:t>
            </a:r>
            <a:r>
              <a:rPr sz="2944" b="1">
                <a:solidFill>
                  <a:srgbClr val="1B1F23"/>
                </a:solidFill>
                <a:latin typeface="Menlo"/>
              </a:rPr>
              <a:t>REJECT</a:t>
            </a:r>
            <a:r>
              <a:rPr sz="3200" b="1">
                <a:solidFill>
                  <a:srgbClr val="1B1F23"/>
                </a:solidFill>
                <a:latin typeface="Helvetica Neue"/>
              </a:rPr>
              <a:t> — pick your failure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521208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5103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72" b="1">
                <a:solidFill>
                  <a:srgbClr val="FFFFFF"/>
                </a:solidFill>
                <a:latin typeface="Menlo"/>
              </a:rPr>
              <a:t>BLOCK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   (default)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31719"/>
            <a:ext cx="5212080" cy="288036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1"/>
            <a:ext cx="4754880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Caller waits until a permit frees 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Nothing is lost — latency absorbs the spike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Backpressure propagates to the caller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Risk: threads pile up if the limit is too 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Use for: queued/async work, batch 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212080" cy="4572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75103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72" b="1">
                <a:solidFill>
                  <a:srgbClr val="FFFFFF"/>
                </a:solidFill>
                <a:latin typeface="Menlo"/>
              </a:rPr>
              <a:t>REJECT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31719"/>
            <a:ext cx="5212080" cy="288036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1"/>
            <a:ext cx="4754880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Throws </a:t>
            </a:r>
            <a:r>
              <a:rPr sz="1334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InvocationRejectedException</a:t>
            </a:r>
            <a:r>
              <a:rPr sz="1450" b="0">
                <a:solidFill>
                  <a:srgbClr val="2D3338"/>
                </a:solidFill>
                <a:latin typeface="Helvetica Neue"/>
              </a:rPr>
              <a:t> immediately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Fail fast instead of queueing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Keeps tail latency predictable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Caller must handle the rejection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Use for: user-facing requests, load shedding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48640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548640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561441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34" b="0">
                <a:solidFill>
                  <a:srgbClr val="C24A00"/>
                </a:solidFill>
                <a:latin typeface="Menlo"/>
              </a:rPr>
              <a:t>limit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/ </a:t>
            </a:r>
            <a:r>
              <a:rPr sz="1334" b="0">
                <a:solidFill>
                  <a:srgbClr val="C24A00"/>
                </a:solidFill>
                <a:latin typeface="Menlo"/>
              </a:rPr>
              <a:t>limitString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also accept </a:t>
            </a:r>
            <a:r>
              <a:rPr sz="1334" b="0">
                <a:solidFill>
                  <a:srgbClr val="C24A00"/>
                </a:solidFill>
                <a:latin typeface="Menlo"/>
              </a:rPr>
              <a:t>${property}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placeholders — tune the bulkhead per environment without recompiling.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CLASS VS. METHOD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Type-level annotations — one shared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features/PartnerGateway.java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02536"/>
            <a:ext cx="10881360" cy="2955163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30552"/>
            <a:ext cx="10405872" cy="27722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@Service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@ConcurrencyLimit(10)                    // TYPE level: ONE semaphore for the class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public class PartnerGateway {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public Order fetchOrder(String id) { ... }     // shares the 10 permits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public void pushUpdate(Update u) { ... }       // shares the SAME 10 permits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B37A"/>
                </a:solidFill>
                <a:latin typeface="Menlo"/>
              </a:rPr>
              <a:t>    @ConcurrencyLimit(2)                 // METHOD level wins for this method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    public Report heavyReport() { ... }   // gets its own, separate 2 permits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85232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3338"/>
                </a:solidFill>
                <a:latin typeface="Helvetica Neue"/>
              </a:rPr>
              <a:t>▸  Type level = one bulkhead for the whole collaborator, not per method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3338"/>
                </a:solidFill>
                <a:latin typeface="Helvetica Neue"/>
              </a:rPr>
              <a:t>▸  A method-level annotation overrides the class-level one and gets its own permits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@Retryable</a:t>
            </a:r>
            <a:r>
              <a:rPr sz="1500" b="0">
                <a:solidFill>
                  <a:srgbClr val="2D3338"/>
                </a:solidFill>
                <a:latin typeface="Helvetica Neue"/>
              </a:rPr>
              <a:t> behaves identically — put it on the class for a shared retry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VIRTUAL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Why this matters more on Java 21+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0">
                <a:solidFill>
                  <a:srgbClr val="2D3338"/>
                </a:solidFill>
                <a:latin typeface="Helvetica Neue"/>
              </a:rPr>
              <a:t>▸  The thread pool used to be the accidental bulkhead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5A636A"/>
                </a:solidFill>
                <a:latin typeface="Helvetica Neue"/>
              </a:rPr>
              <a:t>      –  A 200-thread Tomcat pool implicitly capped downstream concurrency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0">
                <a:solidFill>
                  <a:srgbClr val="2D3338"/>
                </a:solidFill>
                <a:latin typeface="Helvetica Neue"/>
              </a:rPr>
              <a:t>▸  Virtual threads remove that cap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5A636A"/>
                </a:solidFill>
                <a:latin typeface="Helvetica Neue"/>
              </a:rPr>
              <a:t>      –  Millions of threads are cheap — nothing throttles you any more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5A636A"/>
                </a:solidFill>
                <a:latin typeface="Helvetica Neue"/>
              </a:rPr>
              <a:t>      –  The bottleneck silently moves to your database, pool or partner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748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@ConcurrencyLimit</a:t>
            </a:r>
            <a:r>
              <a:rPr sz="1900" b="0">
                <a:solidFill>
                  <a:srgbClr val="2D3338"/>
                </a:solidFill>
                <a:latin typeface="Helvetica Neue"/>
              </a:rPr>
              <a:t> restores the limit where it belongs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5A636A"/>
                </a:solidFill>
                <a:latin typeface="Helvetica Neue"/>
              </a:rPr>
              <a:t>      –  Explicit, per-method, and declared next to the code it protects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06440"/>
            <a:ext cx="10881360" cy="504507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806440"/>
            <a:ext cx="44450" cy="50450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5934456"/>
            <a:ext cx="10424160" cy="321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Demo tests use </a:t>
            </a:r>
            <a:r>
              <a:rPr sz="1334" b="0">
                <a:solidFill>
                  <a:srgbClr val="C24A00"/>
                </a:solidFill>
                <a:latin typeface="Menlo"/>
              </a:rPr>
              <a:t>Executors.newVirtualThreadPerTaskExecutor()</a:t>
            </a:r>
            <a:r>
              <a:rPr sz="1450" b="0">
                <a:solidFill>
                  <a:srgbClr val="113B5E"/>
                </a:solidFill>
                <a:latin typeface="Helvetica Neue"/>
              </a:rPr>
              <a:t> — exactly this scenario.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01A-SPRING-CORE-RESILIENCE-FEATURES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0881360" cy="310896"/>
          </a:xfrm>
          <a:prstGeom prst="rect">
            <a:avLst/>
          </a:prstGeom>
          <a:solidFill>
            <a:srgbClr val="2C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7A"/>
                </a:solidFill>
                <a:latin typeface="Menlo"/>
              </a:rPr>
              <a:t>Run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93976"/>
            <a:ext cx="10881360" cy="745997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21992"/>
            <a:ext cx="10405872" cy="563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Menlo"/>
              </a:rPr>
              <a:t>./mvnw -pl 01a-spring-core-resilience-features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ResilientRetryServiceTest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_NoResilence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— 3 failures, then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42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. Raw, unprotected behaviour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_OldSchool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— manual loop succeeds, but look at the code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_Annotation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—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@Retryable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, watch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MethodRetryEvent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in the log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_Programmatic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—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RetryTemplate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, watch the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RetryListener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callbacks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sz="1564" b="1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ResilientLimitConcurrencyServiceTest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testExecuteWithNoLimit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— 11 virtual threads →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LimitBreachedException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36A"/>
                </a:solidFill>
                <a:latin typeface="Helvetica Neue"/>
              </a:rPr>
              <a:t>      –  </a:t>
            </a:r>
            <a:r>
              <a:rPr sz="138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testExecuteWithLimit</a:t>
            </a:r>
            <a:r>
              <a:rPr sz="1500" b="0">
                <a:solidFill>
                  <a:srgbClr val="5A636A"/>
                </a:solidFill>
                <a:latin typeface="Helvetica Neue"/>
              </a:rPr>
              <a:t> — 100 virtual threads → all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BEFORE YOU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Gotchas &amp;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0">
                <a:solidFill>
                  <a:srgbClr val="2D3338"/>
                </a:solidFill>
                <a:latin typeface="Helvetica Neue"/>
              </a:rPr>
              <a:t>▸  Only retry idempotent operations — a retried </a:t>
            </a:r>
            <a:r>
              <a:rPr sz="161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POST</a:t>
            </a:r>
            <a:r>
              <a:rPr sz="1750" b="0">
                <a:solidFill>
                  <a:srgbClr val="2D3338"/>
                </a:solidFill>
                <a:latin typeface="Helvetica Neue"/>
              </a:rPr>
              <a:t> can charge a card twice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0">
                <a:solidFill>
                  <a:srgbClr val="2D3338"/>
                </a:solidFill>
                <a:latin typeface="Helvetica Neue"/>
              </a:rPr>
              <a:t>▸  Never retry business errors — 400/404/validation failures will never succeed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0">
                <a:solidFill>
                  <a:srgbClr val="2D3338"/>
                </a:solidFill>
                <a:latin typeface="Helvetica Neue"/>
              </a:rPr>
              <a:t>▸  Mind self-invocation — internal calls bypass the proxy; use </a:t>
            </a:r>
            <a:r>
              <a:rPr sz="161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RetryTemplate</a:t>
            </a:r>
            <a:r>
              <a:rPr sz="1750" b="0">
                <a:solidFill>
                  <a:srgbClr val="2D3338"/>
                </a:solidFill>
                <a:latin typeface="Helvetica Neue"/>
              </a:rPr>
              <a:t> instead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0">
                <a:solidFill>
                  <a:srgbClr val="2D3338"/>
                </a:solidFill>
                <a:latin typeface="Helvetica Neue"/>
              </a:rPr>
              <a:t>▸  Budget your timeouts — total retry time must stay under the upstream timeout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0">
                <a:solidFill>
                  <a:srgbClr val="2D3338"/>
                </a:solidFill>
                <a:latin typeface="Helvetica Neue"/>
              </a:rPr>
              <a:t>▸  Beware nested retries — 3 retries at 3 layers is 27 calls to the same dependency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0">
                <a:solidFill>
                  <a:srgbClr val="2D3338"/>
                </a:solidFill>
                <a:latin typeface="Helvetica Neue"/>
              </a:rPr>
              <a:t>▸  No circuit breaker in core Spring 7 — reach for Resilience4j if you need one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0">
                <a:solidFill>
                  <a:srgbClr val="2D3338"/>
                </a:solidFill>
                <a:latin typeface="Helvetica Neue"/>
              </a:rPr>
              <a:t>▸  Size </a:t>
            </a:r>
            <a:r>
              <a:rPr sz="1610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@ConcurrencyLimit</a:t>
            </a:r>
            <a:r>
              <a:rPr sz="1750" b="0">
                <a:solidFill>
                  <a:srgbClr val="2D3338"/>
                </a:solidFill>
                <a:latin typeface="Helvetica Neue"/>
              </a:rPr>
              <a:t> from the real constraint — pool size, partner quota, not a guess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HONEST SCOPING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Do we still need Resilience4j?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5212080" cy="4572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Core Spring 7 is enough when…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5212080" cy="32004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need retry with backoff and jitter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need a simple method-level bulkhead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want zero extra dependencies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value one consistent Spring programming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21208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020824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Reach for Resilience4j when…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77440"/>
            <a:ext cx="5212080" cy="32004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542032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need a circuit breaker (half-open states)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need rate limiting or time limiters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need a result cache or fallback chain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2D3338"/>
                </a:solidFill>
                <a:latin typeface="Helvetica Neue"/>
              </a:rPr>
              <a:t>•  You want its dedicated metrics &amp; dashboards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623560"/>
            <a:ext cx="10881360" cy="734694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5623560"/>
            <a:ext cx="44450" cy="73469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5751576"/>
            <a:ext cx="10424160" cy="551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13B5E"/>
                </a:solidFill>
                <a:latin typeface="Helvetica Neue"/>
              </a:rPr>
              <a:t>These are complementary, not competing. Start with core Spring; escalate only when a pattern is genuinely missing.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A00"/>
                </a:solidFill>
                <a:latin typeface="Helvetica Neue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B1F23"/>
                </a:solidFill>
                <a:latin typeface="Helvetica Neue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100584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850" b="0">
                <a:solidFill>
                  <a:srgbClr val="2D3338"/>
                </a:solidFill>
                <a:latin typeface="Helvetica Neue"/>
              </a:rPr>
              <a:t>▸  Resilience is now a first-class core Spring concern — no extra dependency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85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70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@EnableResilientMethods</a:t>
            </a:r>
            <a:r>
              <a:rPr sz="1850" b="0">
                <a:solidFill>
                  <a:srgbClr val="2D3338"/>
                </a:solidFill>
                <a:latin typeface="Helvetica Neue"/>
              </a:rPr>
              <a:t> is mandatory — without it nothing happens, silently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85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70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@Retryable</a:t>
            </a:r>
            <a:r>
              <a:rPr sz="1850" b="0">
                <a:solidFill>
                  <a:srgbClr val="2D3338"/>
                </a:solidFill>
                <a:latin typeface="Helvetica Neue"/>
              </a:rPr>
              <a:t> for declarative retries; </a:t>
            </a:r>
            <a:r>
              <a:rPr sz="170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RetryTemplate</a:t>
            </a:r>
            <a:r>
              <a:rPr sz="1850" b="0">
                <a:solidFill>
                  <a:srgbClr val="2D3338"/>
                </a:solidFill>
                <a:latin typeface="Helvetica Neue"/>
              </a:rPr>
              <a:t> when you need control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850" b="0">
                <a:solidFill>
                  <a:srgbClr val="2D3338"/>
                </a:solidFill>
                <a:latin typeface="Helvetica Neue"/>
              </a:rPr>
              <a:t>▸  One </a:t>
            </a:r>
            <a:r>
              <a:rPr sz="170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RetryPolicy</a:t>
            </a:r>
            <a:r>
              <a:rPr sz="1850" b="0">
                <a:solidFill>
                  <a:srgbClr val="2D3338"/>
                </a:solidFill>
                <a:latin typeface="Helvetica Neue"/>
              </a:rPr>
              <a:t> bean centralises backoff, jitter, timeout and filtering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85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70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RetryListener</a:t>
            </a:r>
            <a:r>
              <a:rPr sz="1850" b="0">
                <a:solidFill>
                  <a:srgbClr val="2D3338"/>
                </a:solidFill>
                <a:latin typeface="Helvetica Neue"/>
              </a:rPr>
              <a:t> and </a:t>
            </a:r>
            <a:r>
              <a:rPr sz="170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MethodRetryEvent</a:t>
            </a:r>
            <a:r>
              <a:rPr sz="1850" b="0">
                <a:solidFill>
                  <a:srgbClr val="2D3338"/>
                </a:solidFill>
                <a:latin typeface="Helvetica Neue"/>
              </a:rPr>
              <a:t> make retries observable — use them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850" b="0">
                <a:solidFill>
                  <a:srgbClr val="2D3338"/>
                </a:solidFill>
                <a:latin typeface="Helvetica Neue"/>
              </a:rPr>
              <a:t>▸  </a:t>
            </a:r>
            <a:r>
              <a:rPr sz="1702" b="0">
                <a:solidFill>
                  <a:srgbClr val="C24A00"/>
                </a:solidFill>
                <a:highlight>
                  <a:srgbClr val="F1F2F4"/>
                </a:highlight>
                <a:latin typeface="Menlo"/>
              </a:rPr>
              <a:t>@ConcurrencyLimit</a:t>
            </a:r>
            <a:r>
              <a:rPr sz="1850" b="0">
                <a:solidFill>
                  <a:srgbClr val="2D3338"/>
                </a:solidFill>
                <a:latin typeface="Helvetica Neue"/>
              </a:rPr>
              <a:t> is the bulkhead that virtual threads took away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850" b="0">
                <a:solidFill>
                  <a:srgbClr val="2D3338"/>
                </a:solidFill>
                <a:latin typeface="Helvetica Neue"/>
              </a:rPr>
              <a:t>▸  Retries are only safe when the operation is idempotent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36A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657600"/>
            <a:ext cx="1371600" cy="3810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058400" cy="12259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dirty="0">
                <a:solidFill>
                  <a:srgbClr val="FF6200"/>
                </a:solidFill>
                <a:latin typeface="Helvetica Neue"/>
              </a:rPr>
              <a:t>Code:  </a:t>
            </a:r>
            <a:r>
              <a:rPr sz="1748" b="0" dirty="0">
                <a:solidFill>
                  <a:srgbClr val="FF6200"/>
                </a:solidFill>
                <a:latin typeface="Menlo"/>
              </a:rPr>
              <a:t>01a-spring-core-resilience-features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en-US" sz="1700" dirty="0">
                <a:solidFill>
                  <a:srgbClr val="B8C1C9"/>
                </a:solidFill>
                <a:latin typeface="Helvetica Neue"/>
              </a:rPr>
              <a:t>Repo: https://</a:t>
            </a:r>
            <a:r>
              <a:rPr lang="en-US" sz="1700" dirty="0" err="1">
                <a:solidFill>
                  <a:srgbClr val="B8C1C9"/>
                </a:solidFill>
                <a:latin typeface="Helvetica Neue"/>
              </a:rPr>
              <a:t>github.com</a:t>
            </a:r>
            <a:r>
              <a:rPr lang="en-US" sz="1700" dirty="0">
                <a:solidFill>
                  <a:srgbClr val="B8C1C9"/>
                </a:solidFill>
                <a:latin typeface="Helvetica Neue"/>
              </a:rPr>
              <a:t>/</a:t>
            </a:r>
            <a:r>
              <a:rPr lang="en-US" sz="1700" dirty="0" err="1">
                <a:solidFill>
                  <a:srgbClr val="B8C1C9"/>
                </a:solidFill>
                <a:latin typeface="Helvetica Neue"/>
              </a:rPr>
              <a:t>iyogi</a:t>
            </a:r>
            <a:r>
              <a:rPr lang="en-US" sz="1700" dirty="0">
                <a:solidFill>
                  <a:srgbClr val="B8C1C9"/>
                </a:solidFill>
                <a:latin typeface="Helvetica Neue"/>
              </a:rPr>
              <a:t>/playground-spring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1700" b="0" dirty="0">
                <a:solidFill>
                  <a:srgbClr val="B8C1C9"/>
                </a:solidFill>
                <a:latin typeface="Helvetica Neue"/>
              </a:rPr>
              <a:t>Docs:  </a:t>
            </a:r>
            <a:r>
              <a:rPr sz="1700" b="0" dirty="0" err="1">
                <a:solidFill>
                  <a:srgbClr val="B8C1C9"/>
                </a:solidFill>
                <a:latin typeface="Helvetica Neue"/>
              </a:rPr>
              <a:t>docs.spring.io</a:t>
            </a:r>
            <a:r>
              <a:rPr sz="1700" b="0" dirty="0">
                <a:solidFill>
                  <a:srgbClr val="B8C1C9"/>
                </a:solidFill>
                <a:latin typeface="Helvetica Neue"/>
              </a:rPr>
              <a:t> → Core Technologies → Resilience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3094</Words>
  <Application>Microsoft Macintosh PowerPoint</Application>
  <PresentationFormat>Widescreen</PresentationFormat>
  <Paragraphs>419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Shetty, Y.R. (Yogesh)</cp:lastModifiedBy>
  <cp:revision>12</cp:revision>
  <dcterms:created xsi:type="dcterms:W3CDTF">2013-01-27T09:14:16Z</dcterms:created>
  <dcterms:modified xsi:type="dcterms:W3CDTF">2026-10-29T08:02:53Z</dcterms:modified>
  <cp:category/>
</cp:coreProperties>
</file>